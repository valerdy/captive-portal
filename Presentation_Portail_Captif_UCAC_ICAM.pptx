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37760" y="1097280"/>
            <a:ext cx="2286000" cy="22860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000" b="0">
                <a:solidFill>
                  <a:srgbClr val="333333"/>
                </a:solidFill>
              </a:defRPr>
            </a:pPr>
            <a:r>
              <a:t>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Portail Captif WiFi — UCAC-ICAM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FDBFE"/>
                </a:solidFill>
              </a:defRPr>
            </a:pPr>
            <a:r>
              <a:t>Projet de fin d'études — Janvier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5303520"/>
            <a:ext cx="6705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FDBFE"/>
                </a:solidFill>
              </a:defRPr>
            </a:pPr>
            <a:r>
              <a:t>Auteur : Valerdy</a:t>
            </a:r>
          </a:p>
          <a:p>
            <a:pPr algn="ctr">
              <a:spcBef>
                <a:spcPts val="400"/>
              </a:spcBef>
              <a:defRPr sz="1400" b="0">
                <a:solidFill>
                  <a:srgbClr val="64748B"/>
                </a:solidFill>
              </a:defRPr>
            </a:pPr>
            <a:r>
              <a:t>Encadrement technique avec Claude (Assistant IA)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Sommaire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645920"/>
            <a:ext cx="2926080" cy="201168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</a:defRPr>
            </a:pPr>
            <a:r>
              <a:t>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402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Architecture</a:t>
            </a:r>
            <a:br/>
            <a:r>
              <a:t>Réseau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645920"/>
            <a:ext cx="2926080" cy="201168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</a:defRPr>
            </a:pPr>
            <a:r>
              <a:t>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MikroTik</a:t>
            </a:r>
            <a:br/>
            <a:r>
              <a:t>Hotspot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645920"/>
            <a:ext cx="2926080" cy="20116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9" y="17830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</a:defRPr>
            </a:pPr>
            <a:r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2402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FreeRADIUS</a:t>
            </a:r>
            <a:br/>
            <a:r>
              <a:t>Authentification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206240"/>
            <a:ext cx="2926080" cy="20116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</a:defRPr>
            </a:pPr>
            <a:r>
              <a:t>🗄️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800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PostgreSQL</a:t>
            </a:r>
            <a:br/>
            <a:r>
              <a:t>Base de données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206240"/>
            <a:ext cx="2926080" cy="2011680"/>
          </a:xfrm>
          <a:prstGeom prst="roundRect">
            <a:avLst/>
          </a:prstGeom>
          <a:solidFill>
            <a:srgbClr val="CCFBF1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343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</a:defRPr>
            </a:pPr>
            <a:r>
              <a:t>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800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Flux</a:t>
            </a:r>
            <a:br/>
            <a:r>
              <a:t>Complet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4206240"/>
            <a:ext cx="2926080" cy="2011680"/>
          </a:xfrm>
          <a:prstGeom prst="roundRect">
            <a:avLst/>
          </a:prstGeom>
          <a:solidFill>
            <a:srgbClr val="FEE2E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9" y="4343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</a:defRPr>
            </a:pPr>
            <a:r>
              <a:t>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800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Conclusion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Architecture Réseau Globale</a:t>
            </a:r>
          </a:p>
        </p:txBody>
      </p:sp>
      <p:sp>
        <p:nvSpPr>
          <p:cNvPr id="4" name="Cloud 3"/>
          <p:cNvSpPr/>
          <p:nvPr/>
        </p:nvSpPr>
        <p:spPr>
          <a:xfrm>
            <a:off x="4754880" y="1188720"/>
            <a:ext cx="2743200" cy="914400"/>
          </a:xfrm>
          <a:prstGeom prst="cloud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☁  INTERNET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43600" y="2148840"/>
            <a:ext cx="365760" cy="457200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0" y="2651760"/>
            <a:ext cx="4572000" cy="137160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65D"/>
                </a:solidFill>
              </a:defRPr>
            </a:pPr>
            <a:r>
              <a:t>📡  MikroTik RB951Ui-2HnD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64748B"/>
                </a:solidFill>
              </a:defRPr>
            </a:pPr>
            <a:r>
              <a:t>Hotspot  •  NAT  •  DHCP  •  DNS  •  Client RADIUS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1E40AF"/>
                </a:solidFill>
              </a:defRPr>
            </a:pPr>
            <a:r>
              <a:t>10.242.18.6</a:t>
            </a:r>
          </a:p>
        </p:txBody>
      </p:sp>
      <p:sp>
        <p:nvSpPr>
          <p:cNvPr id="9" name="Down Arrow 8"/>
          <p:cNvSpPr/>
          <p:nvPr/>
        </p:nvSpPr>
        <p:spPr>
          <a:xfrm>
            <a:off x="4114800" y="4069080"/>
            <a:ext cx="365760" cy="457200"/>
          </a:xfrm>
          <a:prstGeom prst="down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7680960" y="4069080"/>
            <a:ext cx="365760" cy="457200"/>
          </a:xfrm>
          <a:prstGeom prst="downArrow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4663440"/>
            <a:ext cx="5029200" cy="18288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754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65D"/>
                </a:solidFill>
              </a:defRPr>
            </a:pPr>
            <a:r>
              <a:t>🖥️  Serveur Backend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64748B"/>
                </a:solidFill>
              </a:defRPr>
            </a:pPr>
            <a:r>
              <a:t>Django REST  •  PostgreSQL  •  FreeRADIUS</a:t>
            </a:r>
          </a:p>
          <a:p>
            <a:pPr algn="ctr">
              <a:spcBef>
                <a:spcPts val="400"/>
              </a:spcBef>
              <a:defRPr sz="1100" b="0">
                <a:solidFill>
                  <a:srgbClr val="64748B"/>
                </a:solidFill>
              </a:defRPr>
            </a:pPr>
            <a:r>
              <a:t>RADIUS UDP 1812/1813  |  API HTTP 8000</a:t>
            </a:r>
          </a:p>
          <a:p>
            <a:pPr algn="ctr">
              <a:spcBef>
                <a:spcPts val="400"/>
              </a:spcBef>
              <a:defRPr sz="1100" b="0">
                <a:solidFill>
                  <a:srgbClr val="64748B"/>
                </a:solidFill>
              </a:defRPr>
            </a:pPr>
            <a:r>
              <a:t>Redis  •  Celery  •  Prometheus  •  Grafana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160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◄── RADIUS ──►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663440"/>
            <a:ext cx="5029200" cy="1828800"/>
          </a:xfrm>
          <a:prstGeom prst="roundRect">
            <a:avLst/>
          </a:prstGeom>
          <a:solidFill>
            <a:srgbClr val="FEE2E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754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65D"/>
                </a:solidFill>
              </a:defRPr>
            </a:pPr>
            <a:r>
              <a:t>📱  Clients WiFi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64748B"/>
                </a:solidFill>
              </a:defRPr>
            </a:pPr>
            <a:r>
              <a:t>DHCP : 10.242.18.100 — 10.242.18.200</a:t>
            </a:r>
          </a:p>
          <a:p>
            <a:pPr algn="ctr">
              <a:spcBef>
                <a:spcPts val="400"/>
              </a:spcBef>
              <a:defRPr sz="1100" b="0">
                <a:solidFill>
                  <a:srgbClr val="64748B"/>
                </a:solidFill>
              </a:defRPr>
            </a:pPr>
            <a:r>
              <a:t>Redirection captive → page de login</a:t>
            </a:r>
          </a:p>
          <a:p>
            <a:pPr algn="ctr">
              <a:spcBef>
                <a:spcPts val="400"/>
              </a:spcBef>
              <a:defRPr sz="1100" b="0">
                <a:solidFill>
                  <a:srgbClr val="64748B"/>
                </a:solidFill>
              </a:defRPr>
            </a:pPr>
            <a:r>
              <a:t>Auth RADIUS (PAP/CHAP)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160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</a:defRPr>
            </a:pPr>
            <a:r>
              <a:t>◄── WiFi/DHCP ──►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181904" y="1371600"/>
            <a:ext cx="1828800" cy="18288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0">
                <a:solidFill>
                  <a:srgbClr val="333333"/>
                </a:solidFill>
              </a:defRPr>
            </a:pPr>
            <a:r>
              <a:t>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A365D"/>
                </a:solidFill>
              </a:defRPr>
            </a:pPr>
            <a:r>
              <a:t>Configuration MikroTik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Interfaces  •  DHCP  •  Hotspot  •  NAT  •  DNS  •  Sécurité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MikroTik — Interfaces et Adressage 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2286000"/>
            <a:ext cx="3931920" cy="228600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23774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📡 MikroTik RB951Ui-2HnD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RouterOS v6/v7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926080" cy="118872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</a:defRPr>
            </a:pPr>
            <a:r>
              <a:t>☁  ether1-WAN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Connexion Internet (WAN)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74720" y="2560320"/>
            <a:ext cx="548640" cy="36576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3291840"/>
            <a:ext cx="3383280" cy="100584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337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65D"/>
                </a:solidFill>
              </a:defRPr>
            </a:pPr>
            <a:r>
              <a:t>🔗 bridge-LAN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657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10.242.18.6/24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2286000"/>
            <a:ext cx="3017520" cy="1188720"/>
          </a:xfrm>
          <a:prstGeom prst="roundRect">
            <a:avLst/>
          </a:prstGeom>
          <a:solidFill>
            <a:srgbClr val="CCFBF1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3774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</a:defRPr>
            </a:pPr>
            <a:r>
              <a:t>🔌 ether2-LAN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Réseau local (LAN)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092440" y="2560320"/>
            <a:ext cx="548640" cy="36576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0" y="5029200"/>
            <a:ext cx="5760720" cy="10972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51206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🏊 Pool DHCP : 10.242.18.100 — 10.242.18.200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5321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101 adresses  •  Gateway: 10.242.18.6  •  DNS: 10.242.18.6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943600" y="4389120"/>
            <a:ext cx="365760" cy="548640"/>
          </a:xfrm>
          <a:prstGeom prst="down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MikroTik — Serveur DHCP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1463040"/>
            <a:ext cx="640080" cy="6400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2468880" cy="182880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365D"/>
                </a:solidFill>
              </a:defRPr>
            </a:pPr>
            <a:r>
              <a:t>📱 Client</a:t>
            </a:r>
            <a:br/>
            <a:r>
              <a:t>se connecte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Le client WiFi</a:t>
            </a:r>
            <a:br/>
            <a:r>
              <a:t>rejoint le réseau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71800" y="2926080"/>
            <a:ext cx="365760" cy="365760"/>
          </a:xfrm>
          <a:prstGeom prst="rightArrow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297680" y="146304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286000"/>
            <a:ext cx="2468880" cy="18288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377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365D"/>
                </a:solidFill>
              </a:defRPr>
            </a:pPr>
            <a:r>
              <a:t>📨 DHCP</a:t>
            </a:r>
            <a:br/>
            <a:r>
              <a:t>Discover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108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Demande d'adresse</a:t>
            </a:r>
            <a:br/>
            <a:r>
              <a:t>IP (broadcast)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97880" y="2926080"/>
            <a:ext cx="365760" cy="36576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23760" y="146304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286000"/>
            <a:ext cx="2468880" cy="18288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365D"/>
                </a:solidFill>
              </a:defRPr>
            </a:pPr>
            <a:r>
              <a:t>📡 DHCP</a:t>
            </a:r>
            <a:br/>
            <a:r>
              <a:t>Offer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108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Le routeur propose</a:t>
            </a:r>
            <a:br/>
            <a:r>
              <a:t>une IP du pool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960" y="2926080"/>
            <a:ext cx="365760" cy="36576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0" y="1463040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286000"/>
            <a:ext cx="2468880" cy="182880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377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A365D"/>
                </a:solidFill>
              </a:defRPr>
            </a:pPr>
            <a:r>
              <a:t>✅ IP</a:t>
            </a:r>
            <a:br/>
            <a:r>
              <a:t>Attribuée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108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10.242.18.x</a:t>
            </a:r>
            <a:br/>
            <a:r>
              <a:t>Gateway + DNS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029200"/>
            <a:ext cx="10362895" cy="118872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12064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Configuration DHCP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212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Pool : dhcp-pool  •  Plage : .100 à .200  •  Interface : bridge-LAN  •  Réseau : 10.242.18.0/24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MikroTik — Principe du Hotspot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371600"/>
            <a:ext cx="1097280" cy="10972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0">
                <a:solidFill>
                  <a:srgbClr val="333333"/>
                </a:solidFill>
              </a:defRPr>
            </a:pPr>
            <a:r>
              <a:t>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560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Client WiFi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017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Connexion au</a:t>
            </a:r>
            <a:br/>
            <a:r>
              <a:t>réseau UCAC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0280" y="1737360"/>
            <a:ext cx="365760" cy="365760"/>
          </a:xfrm>
          <a:prstGeom prst="rightArrow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200400" y="137160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0">
                <a:solidFill>
                  <a:srgbClr val="333333"/>
                </a:solidFill>
              </a:defRPr>
            </a:pPr>
            <a:r>
              <a:t>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560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Redirection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017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Trafic HTTP</a:t>
            </a:r>
            <a:br/>
            <a:r>
              <a:t>intercepté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617720" y="1737360"/>
            <a:ext cx="365760" cy="36576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77840" y="1371600"/>
            <a:ext cx="1097280" cy="10972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0">
                <a:solidFill>
                  <a:srgbClr val="333333"/>
                </a:solidFill>
              </a:defRPr>
            </a:pPr>
            <a:r>
              <a:t>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60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Page Login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17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wifi.ucac-icam.cm</a:t>
            </a:r>
            <a:br/>
            <a:r>
              <a:t>/login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995160" y="1737360"/>
            <a:ext cx="365760" cy="36576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55280" y="1371600"/>
            <a:ext cx="1097280" cy="109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0">
                <a:solidFill>
                  <a:srgbClr val="333333"/>
                </a:solidFill>
              </a:defRPr>
            </a:pPr>
            <a:r>
              <a:t>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560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RADIUS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17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Vérification</a:t>
            </a:r>
            <a:br/>
            <a:r>
              <a:t>credentials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372600" y="1737360"/>
            <a:ext cx="365760" cy="36576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32720" y="1371600"/>
            <a:ext cx="1097280" cy="109728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0">
                <a:solidFill>
                  <a:srgbClr val="333333"/>
                </a:solidFill>
              </a:defRPr>
            </a:pPr>
            <a:r>
              <a:t>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560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Internet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3017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Accès autorisé</a:t>
            </a:r>
            <a:br/>
            <a:r>
              <a:t>avec QoS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840480"/>
            <a:ext cx="5486400" cy="256032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📋 Profil : ucac-icam-profile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Adresse : 10.242.18.6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DNS : wifi.ucac-icam.cm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RADIUS : activé (auth + accounting)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Interim update : 5 minutes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Login : HTTP-CHAP + HTTP-PAP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840480"/>
            <a:ext cx="5303520" cy="256032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31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🏰 Walled Garden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43484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Pages accessibles SANS authentification :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Serveur backend Django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API d'enregistrement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Page de login personnalisée</a:t>
            </a:r>
          </a:p>
          <a:p>
            <a:pPr algn="l">
              <a:spcBef>
                <a:spcPts val="400"/>
              </a:spcBef>
              <a:defRPr sz="800" b="0">
                <a:solidFill>
                  <a:srgbClr val="333333"/>
                </a:solidFill>
              </a:defRPr>
            </a:pPr>
          </a:p>
          <a:p>
            <a:pPr algn="l">
              <a:spcBef>
                <a:spcPts val="400"/>
              </a:spcBef>
              <a:defRPr sz="1200" b="0">
                <a:solidFill>
                  <a:srgbClr val="64748B"/>
                </a:solidFill>
              </a:defRPr>
            </a:pPr>
            <a:r>
              <a:t>Le hotspot crée auto. les règles</a:t>
            </a:r>
            <a:br/>
            <a:r>
              <a:t>firewall, NAT et queues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MikroTik — NAT Masquerade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2743200" cy="228600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📱 Client WiFi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IP privée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0AF"/>
                </a:solidFill>
              </a:defRPr>
            </a:pPr>
            <a:r>
              <a:t>10.242.18.x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Source: 10.242.18.105:4532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91840" y="3200400"/>
            <a:ext cx="731520" cy="365760"/>
          </a:xfrm>
          <a:prstGeom prst="rightArrow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0" y="2011680"/>
            <a:ext cx="3931920" cy="292608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1031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🔄 MikroTik — NAT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6517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</a:defRPr>
            </a:pPr>
            <a:r>
              <a:t>Masquerade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004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10.242.18.105  →  IP publique WAN</a:t>
            </a:r>
          </a:p>
          <a:p>
            <a:pPr algn="l">
              <a:spcBef>
                <a:spcPts val="400"/>
              </a:spcBef>
              <a:defRPr sz="600" b="0">
                <a:solidFill>
                  <a:srgbClr val="333333"/>
                </a:solidFill>
              </a:defRPr>
            </a:pPr>
          </a:p>
          <a:p>
            <a:pPr algn="ctr">
              <a:spcBef>
                <a:spcPts val="400"/>
              </a:spcBef>
              <a:defRPr sz="1100" b="0">
                <a:solidFill>
                  <a:srgbClr val="64748B"/>
                </a:solidFill>
              </a:defRPr>
            </a:pPr>
            <a:r>
              <a:t>srcnat • out-interface=ether1-WAN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F59E0B"/>
                </a:solidFill>
              </a:defRPr>
            </a:pPr>
            <a:r>
              <a:t>action=masquerade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138160" y="3200400"/>
            <a:ext cx="731520" cy="36576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0" y="2286000"/>
            <a:ext cx="2743200" cy="22860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☁ Internet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926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IP publique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WAN 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Source: IP_WAN:random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539496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Sans NAT, les clients en 10.242.18.x ne peuvent pas accéder à Internet. Le masquerade remplace l'IP source privée par l'IP publique du routeur.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MikroTik — DNS et Sécurité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256032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🌐 Serveur DNS 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Résolution DNS sur le routeur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Upstream : 8.8.8.8 + 1.1.1.1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Cache : 4096 KiB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Toutes les requêtes DNS redirigées localement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394960" cy="2560320"/>
          </a:xfrm>
          <a:prstGeom prst="roundRect">
            <a:avLst/>
          </a:prstGeom>
          <a:solidFill>
            <a:srgbClr val="FEE2E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🚫 Blocage de Sites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DNS statique → 0.0.0.0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Support regex (wildcard)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Géré depuis le backend Django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Ex: facebook.com → 0.0.0.0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114800"/>
            <a:ext cx="5486400" cy="2286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🔒 Forçage DNS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Redirection port 53 (UDP+TCP) → routeur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Blocage DNS over TLS (port 853)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Empêche le contournement du filtrage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114800"/>
            <a:ext cx="5394960" cy="228600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⚙️ API RouterOS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709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• Port 8728 (API)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Agent Node.js dédié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333333"/>
                </a:solidFill>
              </a:defRPr>
            </a:pPr>
            <a:r>
              <a:t>• Communication backend ↔ routeur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181904" y="1371600"/>
            <a:ext cx="1828800" cy="1828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0">
                <a:solidFill>
                  <a:srgbClr val="333333"/>
                </a:solidFill>
              </a:defRPr>
            </a:pPr>
            <a:r>
              <a:t>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A365D"/>
                </a:solidFill>
              </a:defRPr>
            </a:pPr>
            <a:r>
              <a:t>Configuration FreeRADIUS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Serveur AAA  •  Authentication  •  Authorization  •  Accounting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FreeRADIUS — Authentification, Autorisation, Accounting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3474720" cy="50292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54480" y="1463040"/>
            <a:ext cx="1097280" cy="109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0">
                <a:solidFill>
                  <a:srgbClr val="333333"/>
                </a:solidFill>
              </a:defRPr>
            </a:pPr>
            <a:r>
              <a:t>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65D"/>
                </a:solidFill>
              </a:defRPr>
            </a:pPr>
            <a:r>
              <a:t>Authentication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Vérifier l'identité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Username + Password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Table radcheck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Statut actif vérifié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PAP / CHAP supportés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80160"/>
            <a:ext cx="3474720" cy="502920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0" y="1463040"/>
            <a:ext cx="1097280" cy="10972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0">
                <a:solidFill>
                  <a:srgbClr val="333333"/>
                </a:solidFill>
              </a:defRPr>
            </a:pPr>
            <a:r>
              <a:t>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651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65D"/>
                </a:solidFill>
              </a:defRPr>
            </a:pPr>
            <a:r>
              <a:t>Authorization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Définir les droits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657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Bande passante (Rate-Limit)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977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Durée session (Timeout)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97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Tables radreply + radgroupreply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617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Ex: 5M/10M, 8h session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280160"/>
            <a:ext cx="3474720" cy="502920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18320" y="1463040"/>
            <a:ext cx="1097280" cy="10972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0">
                <a:solidFill>
                  <a:srgbClr val="333333"/>
                </a:solidFill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651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365D"/>
                </a:solidFill>
              </a:defRPr>
            </a:pPr>
            <a:r>
              <a:t>Accounting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Tracer l'activité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657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Sessions : début, durée, fin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977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Octets transférés (up/down)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2976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Table radacct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617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•  Mise à jour toutes les 5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FreeRADIUS — Flux d'Authentification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640080" cy="6400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280160"/>
            <a:ext cx="6400800" cy="91440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32588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📱 Client envoie credentials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373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Page de login hotspot (HTTP-CHAP / HTTP-PAP)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65176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560320"/>
            <a:ext cx="6400800" cy="9144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060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📡 MikroTik → Access-Request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017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User-Name, Password, NAS-IP, MAC  •  UDP 1812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931919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840479"/>
            <a:ext cx="6400800" cy="9144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886199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🔍 FreeRADIUS → authorize (SQL)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97679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SELECT FROM radcheck WHERE username=? AND statut=true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212080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120640"/>
            <a:ext cx="6400800" cy="91440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51663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🔑 FreeRADIUS → authenticate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5778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Comparaison mot de passe (PAP: clair, CHAP: MD5)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371600"/>
            <a:ext cx="3474720" cy="20116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463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✅ Access-Accept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0116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65D"/>
                </a:solidFill>
              </a:defRPr>
            </a:pPr>
            <a:r>
              <a:t>Attributs retournés :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333333"/>
                </a:solidFill>
              </a:defRPr>
            </a:pPr>
            <a:r>
              <a:t>• Mikrotik-Rate-Limit = 5M/10M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333333"/>
                </a:solidFill>
              </a:defRPr>
            </a:pPr>
            <a:r>
              <a:t>• Session-Timeout = 28800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333333"/>
                </a:solidFill>
              </a:defRPr>
            </a:pPr>
            <a:r>
              <a:t>• Idle-Timeout = 600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3840480"/>
            <a:ext cx="3474720" cy="1371600"/>
          </a:xfrm>
          <a:prstGeom prst="roundRect">
            <a:avLst/>
          </a:prstGeom>
          <a:solidFill>
            <a:srgbClr val="FEE2E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39319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4444"/>
                </a:solidFill>
              </a:defRPr>
            </a:pPr>
            <a:r>
              <a:t>❌ Access-Reject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480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Log dans radpostauth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64748B"/>
                </a:solidFill>
              </a:defRPr>
            </a:pPr>
            <a:r>
              <a:t>reply = 'Access-Reject'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FreeRADIUS — Fichiers de Configuration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394960" cy="2286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554480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0">
                <a:solidFill>
                  <a:srgbClr val="333333"/>
                </a:solidFill>
              </a:defRPr>
            </a:pPr>
            <a: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544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clients.conf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202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Client RADIUS (MikroTik)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37744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IP: 10.242.18.6</a:t>
            </a:r>
            <a:br/>
            <a:r>
              <a:t>Secret partagé</a:t>
            </a:r>
            <a:br/>
            <a:r>
              <a:t>nastype: other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394960" cy="22860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0" y="1554480"/>
            <a:ext cx="822960" cy="822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0">
                <a:solidFill>
                  <a:srgbClr val="333333"/>
                </a:solidFill>
              </a:defRPr>
            </a:pPr>
            <a:r>
              <a:t>🗃️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55448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mods-enabled/sql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19202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Driver 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37744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rlm_sql_postgresql</a:t>
            </a:r>
            <a:br/>
            <a:r>
              <a:t>localhost:5432</a:t>
            </a:r>
            <a:br/>
            <a:r>
              <a:t>captive_portal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5394960" cy="228600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4206240"/>
            <a:ext cx="822960" cy="8229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0">
                <a:solidFill>
                  <a:srgbClr val="333333"/>
                </a:solidFill>
              </a:defRPr>
            </a:pPr>
            <a:r>
              <a:t>⚙️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2062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sites-available/default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720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Sites RADIUS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02920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Port 1812 (auth)</a:t>
            </a:r>
            <a:br/>
            <a:r>
              <a:t>Port 1813 (acct)</a:t>
            </a:r>
            <a:br/>
            <a:r>
              <a:t>PAP + CHAP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931920"/>
            <a:ext cx="5394960" cy="228600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0" y="420624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0">
                <a:solidFill>
                  <a:srgbClr val="333333"/>
                </a:solidFill>
              </a:defRPr>
            </a:pPr>
            <a:r>
              <a:t>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2062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dictionary.mikrotik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5720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Attributs MikroTik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5029200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Vendor ID: 14988</a:t>
            </a:r>
            <a:br/>
            <a:r>
              <a:t>Rate-Limit (ID 8)</a:t>
            </a:r>
            <a:br/>
            <a:r>
              <a:t>Total-Limit...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181904" y="1371600"/>
            <a:ext cx="1828800" cy="18288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0">
                <a:solidFill>
                  <a:srgbClr val="333333"/>
                </a:solidFill>
              </a:defRPr>
            </a:pPr>
            <a:r>
              <a:t>🗄️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A365D"/>
                </a:solidFill>
              </a:defRPr>
            </a:pPr>
            <a:r>
              <a:t>Configuration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</a:defRPr>
            </a:pPr>
            <a:r>
              <a:t>Base de données captive_portal  •  Tables RADIUS  •  Tables Django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PostgreSQL — Schéma des 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🔐 Tables RADIUS (FreeRADIUS)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5486400" cy="6400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radcheck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Auth: username, password, statut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41448"/>
            <a:ext cx="5486400" cy="6400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radreply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871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Réponse: attributs individuels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91256"/>
            <a:ext cx="5486400" cy="6400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radusergroup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23697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Liens utilisateur → groupe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1064"/>
            <a:ext cx="5486400" cy="6400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867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radgroupreply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98678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Réponse par groupe (QoS)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690872"/>
            <a:ext cx="5486400" cy="6400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365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radacct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7365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Sessions: durée, octets, MAC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440679"/>
            <a:ext cx="5486400" cy="6400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8639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radpostauth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54863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Journal des authentifications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7C3AED"/>
                </a:solidFill>
              </a:defRPr>
            </a:pPr>
            <a:r>
              <a:t>🖥️ Tables Django (Gestion)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1691640"/>
            <a:ext cx="5486400" cy="6400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1737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core_user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Utilisateurs (extends AbstractUser)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441448"/>
            <a:ext cx="5486400" cy="6400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871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core_profile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24871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Profils (quotas, bande passante)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191256"/>
            <a:ext cx="5486400" cy="6400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2369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core_promotion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23697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Groupes (classes, départements)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3941064"/>
            <a:ext cx="5486400" cy="6400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9867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core_userquota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398678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Quotas utilisateurs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4690872"/>
            <a:ext cx="5486400" cy="6400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7365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core_blockedsite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47365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Sites bloqués (DNS)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60" y="5440679"/>
            <a:ext cx="5486400" cy="6400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548639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mikrotik_config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0" y="548639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Config routeur MikroTik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0" y="64008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40AF"/>
                </a:solidFill>
              </a:defRPr>
            </a:pPr>
            <a:r>
              <a:t>◄── Synchronisation Django ↔ RADIUS ──►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PostgreSQL — Lien FreeRADIUS ↔ Django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3474720" cy="32004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54480" y="1463040"/>
            <a:ext cx="1097280" cy="109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0">
                <a:solidFill>
                  <a:srgbClr val="333333"/>
                </a:solidFill>
              </a:defRPr>
            </a:pPr>
            <a:r>
              <a:t>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Authorize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Vérification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t>SELECT FROM radcheck</a:t>
            </a:r>
            <a:br/>
            <a:r>
              <a:t>WHERE username=?</a:t>
            </a:r>
            <a:br/>
            <a:r>
              <a:t>AND statut=true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80160"/>
            <a:ext cx="3474720" cy="32004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0" y="146304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0">
                <a:solidFill>
                  <a:srgbClr val="333333"/>
                </a:solidFill>
              </a:defRPr>
            </a:pPr>
            <a:r>
              <a:t>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651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Post-Auth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063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Journalisation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4747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t>INSERT INTO radpostauth</a:t>
            </a:r>
            <a:br/>
            <a:r>
              <a:t>(username, reply, authdate)</a:t>
            </a:r>
            <a:br/>
            <a:r>
              <a:t>Succès ou Rejet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280160"/>
            <a:ext cx="3474720" cy="320040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18320" y="1463040"/>
            <a:ext cx="1097280" cy="10972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0">
                <a:solidFill>
                  <a:srgbClr val="333333"/>
                </a:solidFill>
              </a:defRPr>
            </a:pPr>
            <a: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651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Accounting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063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Comptabilité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4747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</a:defRPr>
            </a:pPr>
            <a:r>
              <a:t>Start → INSERT radacct</a:t>
            </a:r>
            <a:br/>
            <a:r>
              <a:t>Interim → UPDATE octets</a:t>
            </a:r>
            <a:br/>
            <a:r>
              <a:t>Stop → UPDATE fin session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846320"/>
            <a:ext cx="10362895" cy="155448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377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🔄 Synchronisation Django → RADIUS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406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Admin active un utilisateur → Django crée radcheck + radreply + radusergroup</a:t>
            </a:r>
          </a:p>
          <a:p>
            <a:pPr algn="ctr">
              <a:spcBef>
                <a:spcPts val="400"/>
              </a:spcBef>
              <a:defRPr sz="1200" b="0">
                <a:solidFill>
                  <a:srgbClr val="64748B"/>
                </a:solidFill>
              </a:defRPr>
            </a:pPr>
            <a:r>
              <a:t>Profil modifié → Django met à jour radgroupreply + radgroupcheck  •  Retry automatique en cas d'échec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Flux d'Authentification Complet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2560320" cy="228600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137160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</a:defRPr>
            </a:pPr>
            <a:r>
              <a:t>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11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Connexion WiFi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5146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IP via DHCP</a:t>
            </a:r>
            <a:br/>
            <a:r>
              <a:t>10.242.18.x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80360" y="2194560"/>
            <a:ext cx="320040" cy="365760"/>
          </a:xfrm>
          <a:prstGeom prst="rightArrow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46120" y="1280160"/>
            <a:ext cx="2560320" cy="2286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37560" y="13716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417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</a:defRPr>
            </a:pPr>
            <a:r>
              <a:t>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011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Redirection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5146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HTTP intercepté</a:t>
            </a:r>
            <a:br/>
            <a:r>
              <a:t>→ page login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52160" y="2194560"/>
            <a:ext cx="320040" cy="36576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280160"/>
            <a:ext cx="2560320" cy="228600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417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</a:defRPr>
            </a:pPr>
            <a:r>
              <a:t>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011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Saisie credentials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5146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Username +</a:t>
            </a:r>
            <a:br/>
            <a:r>
              <a:t>Password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23960" y="2194560"/>
            <a:ext cx="320040" cy="36576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9720" y="1280160"/>
            <a:ext cx="2560320" cy="2286000"/>
          </a:xfrm>
          <a:prstGeom prst="roundRect">
            <a:avLst/>
          </a:prstGeom>
          <a:solidFill>
            <a:srgbClr val="CCFBF1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81160" y="1371600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417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</a:defRPr>
            </a:pPr>
            <a:r>
              <a:t>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011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Access-Request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5146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MikroTik → RADIUS</a:t>
            </a:r>
            <a:br/>
            <a:r>
              <a:t>UDP 1812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023360"/>
            <a:ext cx="2560320" cy="228600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65760" y="41148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160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</a:defRPr>
            </a:pPr>
            <a: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754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PostgreSQL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257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radcheck :</a:t>
            </a:r>
            <a:br/>
            <a:r>
              <a:t>statut + password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880360" y="4937760"/>
            <a:ext cx="320040" cy="36576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246120" y="4023360"/>
            <a:ext cx="2560320" cy="22860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33756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6120" y="4160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</a:defRPr>
            </a:pPr>
            <a:r>
              <a:t>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4754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Access-Accept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5257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Rate-Limit</a:t>
            </a:r>
            <a:br/>
            <a:r>
              <a:t>Timeout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852160" y="4937760"/>
            <a:ext cx="320040" cy="36576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17920" y="4023360"/>
            <a:ext cx="2560320" cy="228600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09360" y="411480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4160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</a:defRPr>
            </a:pPr>
            <a:r>
              <a:t>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4754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Accès Internet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5257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QoS appliquée</a:t>
            </a:r>
            <a:br/>
            <a:r>
              <a:t>5M/10M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8823960" y="4937760"/>
            <a:ext cx="320040" cy="365760"/>
          </a:xfrm>
          <a:prstGeom prst="rightArrow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189720" y="4023360"/>
            <a:ext cx="2560320" cy="2286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281160" y="41148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4160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</a:defRPr>
            </a:pPr>
            <a:r>
              <a:t>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47548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Accounting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5257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Sessions radacct</a:t>
            </a:r>
            <a:br/>
            <a:r>
              <a:t>Toutes les 5 min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11201400" y="3611880"/>
            <a:ext cx="365760" cy="365760"/>
          </a:xfrm>
          <a:prstGeom prst="down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2103120" cy="27432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5448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0">
                <a:solidFill>
                  <a:srgbClr val="333333"/>
                </a:solidFill>
              </a:defRPr>
            </a:pPr>
            <a:r>
              <a:t>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MikroTik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154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Hotspot • NAT • DHCP</a:t>
            </a:r>
            <a:br/>
            <a:r>
              <a:t>DNS • Client RADIUS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0" y="1371600"/>
            <a:ext cx="2103120" cy="27432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154680" y="1554480"/>
            <a:ext cx="1097280" cy="109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0">
                <a:solidFill>
                  <a:srgbClr val="333333"/>
                </a:solidFill>
              </a:defRPr>
            </a:pPr>
            <a:r>
              <a:t>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FreeRADIUS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54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Serveur AAA central</a:t>
            </a:r>
            <a:br/>
            <a:r>
              <a:t>PAP/CHAP via SQL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371600"/>
            <a:ext cx="2103120" cy="2743200"/>
          </a:xfrm>
          <a:prstGeom prst="roundRect">
            <a:avLst/>
          </a:prstGeom>
          <a:solidFill>
            <a:srgbClr val="EDE9FE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32120" y="1554480"/>
            <a:ext cx="1097280" cy="10972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0">
                <a:solidFill>
                  <a:srgbClr val="333333"/>
                </a:solidFill>
              </a:defRPr>
            </a:pPr>
            <a:r>
              <a:t>🗄️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PostgreSQL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154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Tables RADIUS + Django</a:t>
            </a:r>
            <a:br/>
            <a:r>
              <a:t>Utilisateurs &amp; Sessions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371600"/>
            <a:ext cx="2103120" cy="274320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09560" y="1554480"/>
            <a:ext cx="1097280" cy="10972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0">
                <a:solidFill>
                  <a:srgbClr val="333333"/>
                </a:solidFill>
              </a:defRPr>
            </a:pPr>
            <a:r>
              <a:t>⚙️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Django 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154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API de gestion</a:t>
            </a:r>
            <a:br/>
            <a:r>
              <a:t>Sync RADIUS &amp; MikroTik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371600"/>
            <a:ext cx="2103120" cy="2743200"/>
          </a:xfrm>
          <a:prstGeom prst="roundRect">
            <a:avLst/>
          </a:prstGeom>
          <a:solidFill>
            <a:srgbClr val="CCFBF1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87000" y="1554480"/>
            <a:ext cx="1097280" cy="109728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0">
                <a:solidFill>
                  <a:srgbClr val="333333"/>
                </a:solidFill>
              </a:defRPr>
            </a:pPr>
            <a: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743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65D"/>
                </a:solidFill>
              </a:defRPr>
            </a:pPr>
            <a:r>
              <a:t>Vue.js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154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Dashboard admin</a:t>
            </a:r>
            <a:br/>
            <a:r>
              <a:t>Temps réel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4572000"/>
            <a:ext cx="9448495" cy="164592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66344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365D"/>
                </a:solidFill>
              </a:defRPr>
            </a:pPr>
            <a:r>
              <a:t>🎯 Résultat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166360"/>
            <a:ext cx="9052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4748B"/>
                </a:solidFill>
              </a:defRPr>
            </a:pPr>
            <a:r>
              <a:t>Un système WiFi sécurisé, évolutif et adapté au contexte universitaire UCAC-ICAM</a:t>
            </a:r>
            <a:br/>
            <a:r>
              <a:t>Orchestration Docker Compose de 11 services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FDBFE"/>
                </a:solidFill>
              </a:defRPr>
            </a:pPr>
            <a:r>
              <a:t>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029200"/>
            <a:ext cx="6705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</a:defRPr>
            </a:pPr>
            <a:r>
              <a:t>Portail Captif WiFi — UCAC-ICAM — Janvier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