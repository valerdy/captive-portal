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Portail Captif WiFi - UCAC-ICAM</a:t>
            </a:r>
          </a:p>
          <a:p>
            <a:pPr algn="ctr">
              <a:spcBef>
                <a:spcPts val="1600"/>
              </a:spcBef>
              <a:defRPr sz="2000" b="0">
                <a:solidFill>
                  <a:srgbClr val="BFDBFE"/>
                </a:solidFill>
              </a:defRPr>
            </a:pPr>
            <a:r>
              <a:t>Récapitulatif Complet des Configurations</a:t>
            </a:r>
            <a:br/>
            <a:r>
              <a:t>Projet de fin d'études — Janvier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4754880"/>
            <a:ext cx="6705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 b="0">
                <a:solidFill>
                  <a:srgbClr val="BFDBFE"/>
                </a:solidFill>
              </a:defRPr>
            </a:pPr>
            <a:r>
              <a:t>Auteur : Valerdy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64748B"/>
                </a:solidFill>
              </a:defRPr>
            </a:pPr>
            <a:r>
              <a:t>Encadrement technique avec Claude (Assistant IA)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Sommaire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1.  Introduction et objectifs du projet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2.  Architecture réseau globale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3.  MikroTik — Interfaces et adressage IP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4.  MikroTik — DHCP Server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5.  MikroTik — Configuration Hotspot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6.  MikroTik — NAT (Masquerade)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7.  MikroTik — Sécurité, DNS et contrôle d'accès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8.  Machine cliente — Connexion et tests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9.  FreeRADIUS — Rôle et architecture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10. FreeRADIUS — Fichiers de configuration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11. FreeRADIUS — Authentification et communication MikroTik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12. FreeRADIUS — Logs et vérifications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13. PostgreSQL — Base de données et tables RADIUS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14. PostgreSQL — Lien FreeRADIUS ↔ PostgreSQL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15. Flux d'authentification complet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16. Conclusion et résumé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 et Objectifs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Contexte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Le campus UCAC-ICAM a besoin d'un système WiFi sécurisé avec authentification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Les étudiants et le personnel doivent s'identifier avant d'accéder à Internet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Objectif principal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Mettre en place un portail captif WiFi avec gestion centralisée des accès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Authentification RADIUS, gestion des quotas, contrôle de bande passante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Technologies utilisées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MikroTik RB951Ui-2HnD — Routeur hotspot + client RADIUS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FreeRADIUS 3.0 — Serveur d'authentification AAA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PostgreSQL 15 — Base de données (tables RADIUS + Django)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Django REST Framework — Backend API de gestion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Vue.js 3 — Interface d'administration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Docker Compose — Orchestration de 11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81904" y="1828800"/>
            <a:ext cx="1828800" cy="18288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</a:defRPr>
            </a:pPr>
            <a:r>
              <a:t>Configuration MikroTik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Architecture Réseau Globale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188720"/>
            <a:ext cx="2103120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INTERNET (WAN)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377440"/>
            <a:ext cx="3931920" cy="10972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MikroTik RB951Ui-2HnD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64748B"/>
                </a:solidFill>
              </a:defRPr>
            </a:pPr>
            <a:r>
              <a:t>10.242.18.6  |  Hotspot + RADIUS Client + NAT + DNS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029200" cy="22860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Serveur Backend (Ubuntu 22.04 LTS)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64748B"/>
                </a:solidFill>
              </a:defRPr>
            </a:pPr>
            <a:r>
              <a:t>Django REST + PostgreSQL + FreeRADIUS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64748B"/>
                </a:solidFill>
              </a:defRPr>
            </a:pPr>
            <a:r>
              <a:t>RADIUS: UDP 1812/1813  |  API: HTTP 8000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64748B"/>
                </a:solidFill>
              </a:defRPr>
            </a:pPr>
            <a:r>
              <a:t>Agent MikroTik (Node.js): HTTP 3001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64748B"/>
                </a:solidFill>
              </a:defRPr>
            </a:pPr>
            <a:r>
              <a:t>Redis + Celery + Prometheus + Grafana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4114800"/>
            <a:ext cx="4846320" cy="22860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Clients WiFi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64748B"/>
                </a:solidFill>
              </a:defRPr>
            </a:pPr>
            <a:r>
              <a:t>DHCP: 10.242.18.100 - 10.242.18.200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64748B"/>
                </a:solidFill>
              </a:defRPr>
            </a:pPr>
            <a:r>
              <a:t>Gateway: 10.242.18.6 | DNS: 10.242.18.6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64748B"/>
                </a:solidFill>
              </a:defRPr>
            </a:pPr>
            <a:r>
              <a:t>Redirection captive vers page de login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64748B"/>
                </a:solidFill>
              </a:defRPr>
            </a:pPr>
            <a:r>
              <a:t>Authentification via RADIUS (PAP/CHAP)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65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◄── RADIUS (1812/1813) ──►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◄── WiFi / DHCP ──►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MikroTik — Interfaces et Adressage 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9496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40AF"/>
                </a:solidFill>
              </a:defRPr>
            </a:pPr>
            <a:r>
              <a:t>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• ether1-WAN : Connexion Internet (WAN)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• ether2-LAN : Réseau local (LAN)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• bridge-LAN : Bridge regroupant les interfaces LAN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Commandes RouterOS 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/interface ethernet set ether1 name=ether1-WAN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/interface ethernet set ether2 name=ether2-LAN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/interface bridge add name=bridge-LAN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/interface bridge port add bridge=bridge-LAN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 interface=ether2-LAN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40AF"/>
                </a:solidFill>
              </a:defRPr>
            </a:pPr>
            <a:r>
              <a:t>Adressage 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• Routeur (LAN) : 10.242.18.6/24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→ Passerelle par défaut des clients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→ Serveur DNS local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→ Interface du hotspot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• Pool DHCP : 10.242.18.100 - .200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→ 101 adresses disponibles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• Sous-réseau : 10.242.18.0/24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Commande 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/ip address add address=10.242.18.6/24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 interface=bridge-LAN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MikroTik — Serveur DHCP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Rôle : Attribuer automatiquement une adresse IP à chaque client WiFi connecté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Configuration du pool DHCP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Pool name : dhcp-pool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Plage d'adresses : 10.242.18.100 à 10.242.18.200 (101 adresses)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Configuration du serveur DHCP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Interface : bridge-LAN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Réseau : 10.242.18.0/24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Passerelle (gateway) : 10.242.18.6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Serveur DNS : 10.242.18.6 (le routeur lui-même)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Commandes RouterOS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/ip pool add name=dhcp-pool ranges=10.242.18.100-10.242.18.200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/ip dhcp-server add name=dhcp-server interface=bridge-LAN address-pool=dhcp-pool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/ip dhcp-server network add address=10.242.18.0/24 gateway=10.242.18.6 dns-server=10.242.18.6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MikroTik — Configuration du Hotspot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Principe du hotspot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Tout client connecté au WiFi est redirigé vers une page de login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L'utilisateur doit s'authentifier pour accéder à Internet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MikroTik délègue l'authentification au serveur FreeRADIUS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Profil hotspot créé : ucac-icam-profile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Adresse hotspot : 10.242.18.6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Nom DNS : wifi.ucac-icam.cm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Utilisation RADIUS : oui (use-radius=yes)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Accounting RADIUS : oui (suivi des sessions)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Intervalle interim : 5 minutes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Méthodes de login : HTTP-CHAP et HTTP-PAP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Activation du hotspot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Interface : bridge-LAN  |  Pool : dhcp-pool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Walled Garden (accès sans authentification)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Serveur backend (Django, FreeRADIUS) accessible sans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MikroTik — Commandes Hotspot (RouterOS)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Créer le profil hotspot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/ip hotspot profile add name="ucac-icam-profile" \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hotspot-address=10.242.18.6 \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dns-name="wifi.ucac-icam.cm" \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html-directory=hotspot \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use-radius=yes \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radius-accounting=yes \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radius-interim-update=5m \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login-by=http-chap,http-pap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Activer le hotspot sur l'interface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/ip hotspot add name=hotspot1 interface=bridge-LAN \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profile="ucac-icam-profile" \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address-pool=dhcp-pool disabled=no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Walled Garden (pages accessibles sans authentification)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/ip hotspot walled-garden add dst-host=10.242.18.X action=allow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/ip hotspot walled-garden ip add dst-address=10.242.18.X action=accept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40"/>
            <a:ext cx="11277295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40AF"/>
                </a:solidFill>
              </a:defRPr>
            </a:pPr>
            <a:r>
              <a:t>  Le hotspot crée automatiquement des règles firewall, NAT et des queues pour le contrôle de bande passante.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MikroTik — Règles Créées Automatiquement par le Hotspot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Quand le hotspot est activé, MikroTik crée automatiquement :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Règles NAT (Firewall)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Redirection HTTP (port 80) → page de login du hotspot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Redirection HTTPS (port 443) → page de login sécurisée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Masquerade pour le trafic des clients authentifiés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Règles Filter (Firewall)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Blocage du trafic des clients non authentifiés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Autorisation du trafic des clients authentifiés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Autorisation du trafic vers le Walled Garden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Queues (Contrôle de bande passante)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Queue dynamique créée par client authentifié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Limites appliquées via l'attribut RADIUS Mikrotik-Rate-Limit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Exemple : 5M upload / 10M download par utilisateur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Pages HTML du hotspot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login.html, logout.html, status.html, alogin.html — personnalisées UCAC-ICAM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MikroTik — NAT (Masquerade)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Qu'est-ce que le NAT Masquerade ?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Technique qui permet aux clients du réseau local (IP privée) d'accéder à Internet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Le routeur remplace l'adresse IP source privée par son adresse IP publique (WAN)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Les réponses sont automatiquement retransmises au bon client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Configuration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Chain : srcnat (trafic sortant)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Interface de sortie : ether1-WAN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Action : masquerade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Commande RouterOS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/ip firewall nat add chain=srcnat out-interface=ether1-WAN action=masquerade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Pourquoi c'est nécessaire ?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Sans NAT, les clients en 10.242.18.x ne peuvent pas atteindre Internet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Le masquerade est la forme la plus simple de NAT pour un accès Internet partagé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Note : Le hotspot ajoute aussi ses propres règles NAT pour la redirection captive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MikroTik — Sécurité et Contrôle d'Accès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Configuration DNS (blocage de sites)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Serveur DNS local activé (allow-remote-requests=yes)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DNS upstream : 8.8.8.8 et 1.1.1.1 (Google + Cloudflare)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Cache DNS : 4096 KiB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Blocage de sites par DNS statique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Entrées DNS statiques pointant vers 0.0.0.0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Support des expressions régulières (wildcard)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Géré automatiquement depuis le backend Django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Forçage DNS (empêcher le contournement)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Redirection de toutes les requêtes DNS (UDP/TCP 53) vers le routeur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Blocage optionnel de DNS over TLS (port 853)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API RouterOS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Service API activé sur le port 8728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Utilisateur dédié pour l'agent Node.js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Communication sécurisée entre le backend et le routeur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MikroTik — Commandes DNS et Sécurité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Configurer le serveur DNS local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/ip dns set allow-remote-requests=yes servers=8.8.8.8,1.1.1.1 cache-size=4096KiB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Bloquer un domaine (redirection vers 0.0.0.0)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/ip dns static add name="facebook.com" address=0.0.0.0 comment="captive-portal-block:1"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/ip dns static add name="www.facebook.com" address=0.0.0.0 comment="captive-portal-block:1"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Bloquer avec wildcard (regex)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/ip dns static add regexp=".*\.tiktok\.com$" address=0.0.0.0 comment="captive-portal-block:2"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Forcer l'utilisation du DNS local (empêcher contournement)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/ip firewall nat add chain=dstnat protocol=udp dst-port=53 \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in-interface=bridge-LAN action=redirect to-ports=53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/ip firewall nat add chain=dstnat protocol=tcp dst-port=53 \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in-interface=bridge-LAN action=redirect to-ports=53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Bloquer DNS over TLS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/ip firewall filter add chain=forward protocol=tcp dst-port=853 \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in-interface=bridge-LAN action=drop comment="Block DoT"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MikroTik — Tests de Fonctionnement du Hotspot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Test 1 : Redirection captive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Le client connecté au WiFi est automatiquement redirigé vers la page de login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URL : http://wifi.ucac-icam.cm/login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Test 2 : Authentification RADIUS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L'utilisateur entre ses identifiants sur la page de login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MikroTik envoie une requête Access-Request au serveur FreeRADIUS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FreeRADIUS répond Access-Accept ou Access-Reject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Test 3 : Accès Internet après authentification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Après login réussi, le client peut naviguer sur Internet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Les limites de bande passante sont appliquées (ex: 5M/10M)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Test 4 : Comptabilité des sessions (Accounting)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MikroTik envoie les données de session (durée, octets) toutes les 5 min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Les sessions sont enregistrées dans la table radacct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Test 5 : Blocage DNS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nslookup facebook.com → 0.0.0.0 (site bloqué)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81904" y="1828800"/>
            <a:ext cx="1828800" cy="18288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</a:defRPr>
            </a:pPr>
            <a:r>
              <a:t>Machine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Machine Cliente — Connexion et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9496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40AF"/>
                </a:solidFill>
              </a:defRPr>
            </a:pPr>
            <a:r>
              <a:t>Mode de Connexion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• Connexion WiFi au réseau UCAC-ICAM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• Attribution IP automatique via DHCP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Adresse IP reçue 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→ Plage : 10.242.18.100 à .200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→ Passerelle : 10.242.18.6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→ DNS : 10.242.18.6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Rôle dans le test 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→ Valider le fonctionnement du hotspot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→ Vérifier la redirection captive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→ Tester l'authentification RADIUS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→ Vérifier le contrôle de bande passante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94960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40AF"/>
                </a:solidFill>
              </a:defRPr>
            </a:pPr>
            <a:r>
              <a:t>Tests Réalisés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1. Test DHCP 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ipconfig → IP dans 10.242.18.100-200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2. Test de redirection captive 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Ouvrir navigateur → page de login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3. Test d'authentification 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Login avec credentials → accès Internet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4. Test de ping 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ping 10.242.18.6 → réponse OK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ping 8.8.8.8 → réponse OK (après auth)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5. Test de blocage DNS 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</a:defRPr>
            </a:pPr>
            <a:r>
              <a:t>   nslookup facebook.com → 0.0.0.0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81904" y="1828800"/>
            <a:ext cx="1828800" cy="18288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</a:defRPr>
            </a:pPr>
            <a:r>
              <a:t>Configuration FreeRADIUS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FreeRADIUS — Rôle dans l'Architecture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Qu'est-ce que FreeRADIUS ?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Serveur AAA (Authentication, Authorization, Accounting)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Protocole RADIUS standard (RFC 2865 / RFC 2866)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Version utilisée : FreeRADIUS 3.0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Authentication (Authentification)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Vérifie l'identité de l'utilisateur (username + password)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Consulte la table radcheck dans PostgreSQL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Vérifie aussi le champ statut (actif/désactivé)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Authorization (Autorisation)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Détermine les droits de l'utilisateur (bande passante, durée de session)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Retourne les attributs depuis radreply et radgroupreply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Exemple : Mikrotik-Rate-Limit = 5M/10M, Session-Timeout = 28800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Accounting (Comptabilité)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Enregistre les sessions : début, durée, octets transférés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Table radacct mise à jour à chaque événement (Start, Interim, Stop)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Permet le suivi des quotas et la facturation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FreeRADIUS — Fichiers de Configuration Modifiés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1. /etc/freeradius/3.0/clients.conf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Définit le MikroTik comme client RADIUS autorisé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IP : 10.242.18.6  |  Secret partagé  |  nastype : other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2. /etc/freeradius/3.0/mods-available/sql → mods-enabled/sql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Driver : rlm_sql_postgresql (PostgreSQL)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Connexion : localhost:5432 / captive_portal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Tables : radcheck, radreply, radusergroup, radgroupreply, radacct, radpostauth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Pool de connexions : min=4, max=32, idle_timeout=60s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3. /etc/freeradius/3.0/sites-available/default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Écoute : port 1812 (auth) et 1813 (acct)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Section authorize : sql → pap (vérification mot de passe)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Section authenticate : PAP et CHAP supportés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Section post-auth : log dans radpostauth via sql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Section accounting : enregistrement dans radacct via sql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4. /etc/freeradius/3.0/dictionary.mikrotik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Attributs vendor-specific MikroTik (Vendor ID : 14988)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Mikrotik-Rate-Limit (ID 8), Mikrotik-Recv-Limit, Mikrotik-Total-Limit...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FreeRADIUS — clients.conf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/etc/freeradius/3.0/clients.conf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Client MikroTik (routeur hotspot)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client mikrotik-hotspot {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ipaddr = 10.242.18.6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secret = "votre_secret_radius"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shortname = mikrotik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nastype = other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limit {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    max_connections = 16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    lifetime = 0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    idle_timeout = 30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Client localhost (pour les tests avec radtest)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client localhost {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ipaddr = 127.0.0.1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secret = testing123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40"/>
            <a:ext cx="11277295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40AF"/>
                </a:solidFill>
              </a:defRPr>
            </a:pPr>
            <a:r>
              <a:t>  Le secret RADIUS doit correspondre exactement à celui configuré dans MikroTik (/radius add secret=...)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FreeRADIUS — Configuration SQL (mods-enabled/sql)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/etc/freeradius/3.0/mods-available/sql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sql {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driver = "rlm_sql_postgresql"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dialect = "postgresql"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server = "localhost"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port = 5432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login = "radius_user"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password = "radius_password"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radius_db = "captive_portal"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read_clients = yes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# Tables RADIUS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acct_table1 = "radacct"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authcheck_table = "radcheck"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groupcheck_table = "radgroupcheck"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authreply_table = "radreply"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groupreply_table = "radgroupreply"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usergroup_table = "radusergroup"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postauth_table = "radpostauth"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pool {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    start = 5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    min = 4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    max = 32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    spare = 3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    idle_timeout = 60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# Activation : ln -s mods-available/sql mods-enabled/sql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FreeRADIUS — Méthode d'Authentification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Flux d'authentification détaillé :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1. Le MikroTik reçoit les credentials de l'utilisateur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Via la page de login hotspot (HTTP-CHAP ou HTTP-PAP)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2. MikroTik envoie un paquet Access-Request au FreeRADIUS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Contient : User-Name, User-Password, NAS-IP-Address, Calling-Station-Id (MAC)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Protocole : UDP, port 1812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3. FreeRADIUS exécute la section authorize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Requête SQL : SELECT * FROM radcheck WHERE username = ? AND statut = true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Récupère le mot de passe en clair (Cleartext-Password)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4. FreeRADIUS exécute la section authenticate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Comparaison du mot de passe (PAP : clair, CHAP : hash MD5)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5. Si authentification réussie → Access-Accept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Attributs retournés : Mikrotik-Rate-Limit, Session-Timeout, Idle-Timeout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6. Si échec → Access-Reject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Log dans radpostauth (reply = 'Access-Reject')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FreeRADIUS — Communication avec MikroTik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Protocole de communication : RADIUS (UDP)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Ports utilisés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1812 — Authentification (Access-Request / Access-Accept / Access-Reject)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1813 — Accounting (Accounting-Request / Accounting-Response)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Secret partagé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Clé secrète identique configurée sur MikroTik et FreeRADIUS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Utilisée pour chiffrer/vérifier les échanges RADIUS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Configuration côté MikroTik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/radius add address=&lt;IP_serveur&gt; secret=&lt;secret&gt; service=hotspot timeout=3s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Configuration côté FreeRADIUS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client mikrotik-hotspot { ipaddr=10.242.18.6 ; secret=&lt;secret&gt; }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Attributs vendor-specific MikroTik (Vendor ID 14988)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Mikrotik-Rate-Limit (att. 8) : contrôle de bande passante (ex: 5M/10M)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Mikrotik-Total-Limit (att. 17) : quota total en octets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Mikrotik-Recv-Limit / Mikrotik-Xmit-Limit : limites download/upload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FreeRADIUS — Logs et Vérifications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Test d'authentification avec radtest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radtest jean.dupont motdepasse123 localhost 0 testing123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Résultat attendu : Access-Accept avec Mikrotik-Rate-Limit, Session-Timeout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Mode debug (pour diagnostic)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sudo freeradius -X → lance FreeRADIUS en mode debug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Affiche chaque étape : authorize, authenticate, post-auth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Logs dans la base de données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Table radpostauth : chaque tentative d'authentification (succès/rejet + date)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Table radacct : chaque session (début, fin, durée, octets, MAC)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Vérifications supplémentaires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sudo systemctl status freeradius → état du service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SELECT * FROM radpostauth ORDER BY authdate DESC LIMIT 10 → dernières auth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SELECT * FROM radacct WHERE acctstoptime IS NULL → sessions actives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Gestion du service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sudo systemctl start/stop/restart freeradius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sudo systemctl enable freeradius → démarrage automatique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81904" y="1828800"/>
            <a:ext cx="1828800" cy="18288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</a:defRPr>
            </a:pPr>
            <a:r>
              <a:t>Configuration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PostgreSQL — Base de Données et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Base de données : captive_portal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Utilisateur : radius_user (accès FreeRADIUS + Django)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Version : PostgreSQL 15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Tables RADIUS (utilisées directement par FreeRADIUS)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radcheck — Authentification (username, password, statut, quota)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radreply — Attributs de réponse individuels (Rate-Limit, Timeout)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radusergroup — Association utilisateur → groupe (profil)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radgroupcheck — Attributs de vérification par groupe (Simultaneous-Use)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radgroupreply — Attributs de réponse par groupe (Rate-Limit, Timeout)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radacct — Comptabilité des sessions (durée, octets, MAC, IP)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radpostauth — Journal des authentifications (succès/rejet)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Tables Django (gestion applicative)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core_user — Utilisateurs du portail (extends AbstractUser)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core_profile — Profils de connexion (quotas, bande passante)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core_promotion — Groupes d'utilisateurs (classes, départements)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core_session, core_device, core_voucher, core_userquota...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PostgreSQL — Structure des Tables RADIUS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-- Table radcheck : Authentification des utilisateurs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CREATE TABLE radcheck (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id SERIAL PRIMARY KEY,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username VARCHAR(64) NOT NULL,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attribute VARCHAR(64) NOT NULL,        -- ex: 'Cleartext-Password'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op VARCHAR(2) DEFAULT ':=',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value VARCHAR(253) NOT NULL,           -- ex: 'motdepasse123'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statut BOOLEAN DEFAULT TRUE,           -- Extension: actif/désactivé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quota BIGINT                           -- Extension: quota en octets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);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-- Table radreply : Attributs retournés après authentification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CREATE TABLE radreply (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id SERIAL PRIMARY KEY,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username VARCHAR(64) NOT NULL,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attribute VARCHAR(64) NOT NULL,        -- ex: 'Session-Timeout'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op VARCHAR(2) DEFAULT '=',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value VARCHAR(253) NOT NULL            -- ex: '28800'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);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-- Table radacct : Comptabilité des sessions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CREATE TABLE radacct (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radacctid BIGSERIAL PRIMARY KEY,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username VARCHAR(64), nasipaddress VARCHAR(15),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acctstarttime TIMESTAMP, acctstoptime TIMESTAMP,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acctsessiontime INTEGER,               -- durée en secondes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acctinputoctets BIGINT,                -- octets reçus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acctoutputoctets BIGINT,               -- octets envoyés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callingstationid VARCHAR(50),          -- adresse MAC client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framedipaddress VARCHAR(15)            -- IP attribuée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PostgreSQL — Lien FreeRADIUS ↔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Comment FreeRADIUS utilise PostgreSQL ?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Phase Authorize (vérification)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SELECT username, attribute, value, op FROM radcheck WHERE username = ?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Vérifie : statut = true ET mot de passe correct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Récupère aussi les attributs du groupe via radusergroup + radgroupreply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Phase Post-Auth (journalisation)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INSERT INTO radpostauth (username, pass, reply, authdate) VALUES (...)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Enregistre chaque tentative d'authentification (succès ou rejet)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Phase Accounting (comptabilité)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Start : INSERT INTO radacct (...) — nouvelle session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Interim : UPDATE radacct SET acctinputoctets=..., acctupdatetime=... — mise à jour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Stop : UPDATE radacct SET acctstoptime=..., acctterminatecause=... — fin de session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Synchronisation Django → RADIUS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Quand un admin active un utilisateur, Django crée les entrées dans radcheck + radreply + radusergroup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Quand un profil est modifié, Django met à jour radgroupreply et radgroupcheck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Système de retry automatique en cas d'échec de synchronisation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PostgreSQL — Exemple de Données RADIUS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-- Créer un groupe/profil (Étudiant : 5M upload, 10M download, 8h session)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INSERT INTO radgroupreply (groupname, attribute, op, value) VALUES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('profile_1_etudiant', 'Mikrotik-Rate-Limit', ':=', '5M/10M'),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('profile_1_etudiant', 'Session-Timeout', ':=', '28800'),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('profile_1_etudiant', 'Idle-Timeout', ':=', '600');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INSERT INTO radgroupcheck (groupname, attribute, op, value) VALUES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('profile_1_etudiant', 'Simultaneous-Use', ':=', '1');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-- Créer un utilisateur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INSERT INTO radcheck (username, attribute, op, value, statut) VALUES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('jean.dupont', 'Cleartext-Password', ':=', 'motdepasse123', true);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-- Associer l'utilisateur au profil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INSERT INTO radusergroup (username, groupname, priority) VALUES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('jean.dupont', 'profile_1_etudiant', 5);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-- Vérifier (test)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SELECT rc.username, rc.value as password, rc.statut,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       rug.groupname, rgr.attribute, rgr.value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FROM radcheck rc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JOIN radusergroup rug ON rc.username = rug.username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JOIN radgroupreply rgr ON rug.groupname = rgr.groupname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nsolas"/>
              </a:defRPr>
            </a:pPr>
            <a:r>
              <a:t>WHERE rc.username = 'jean.dupont';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Flux d'Authentification Complet (Récapitulatif)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1. Le client WiFi se connecte au réseau → reçoit une IP via DHCP (10.242.18.x)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2. Le client ouvre un navigateur → redirection automatique vers la page de login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MikroTik intercepte le trafic HTTP et redirige vers wifi.ucac-icam.cm/login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3. L'utilisateur entre son nom d'utilisateur et son mot de passe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4. MikroTik envoie un Access-Request (RADIUS, UDP 1812) à FreeRADIUS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Contient : User-Name, User-Password, NAS-IP, Calling-Station-Id (MAC)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5. FreeRADIUS interroge PostgreSQL (table radcheck)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Vérifie : utilisateur existe, statut=true, mot de passe correct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6. FreeRADIUS retourne Access-Accept avec les attributs QoS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Mikrotik-Rate-Limit=5M/10M, Session-Timeout=28800, Idle-Timeout=600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7. MikroTik autorise le client et applique les restrictions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8. Accounting : MikroTik envoie les données de session toutes les 5 min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Stockées dans radacct → synchronisées avec Django → vérification des quotas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Ce projet implémente un portail captif WiFi complet et professionnel :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MikroTik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Gère le hotspot, le DHCP, le NAT, le DNS et le contrôle d'accès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Communique avec FreeRADIUS pour l'authentification et l'accounting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FreeRADIUS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Serveur AAA central qui authentifie les utilisateurs via PostgreSQL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Retourne les attributs QoS (bande passante, durée de session)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PostgreSQL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Stocke les utilisateurs, les profils, les sessions et les quotas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Partagé entre FreeRADIUS (tables rad*) et Django (tables core_*)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1">
                <a:solidFill>
                  <a:srgbClr val="333333"/>
                </a:solidFill>
              </a:defRPr>
            </a:pPr>
            <a:r>
              <a:t>Django + Vue.js 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Interface d'administration complète pour gérer utilisateurs, profils et promotions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64748B"/>
                </a:solidFill>
              </a:defRPr>
            </a:pPr>
            <a:r>
              <a:t>Synchronisation automatique avec FreeRADIUS et MikroTik</a:t>
            </a: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700" b="0">
                <a:solidFill>
                  <a:srgbClr val="333333"/>
                </a:solidFill>
              </a:defRPr>
            </a:pPr>
            <a:r>
              <a:t>Résultat : Un système sécurisé, évolutif et adapté au contexte universitaire UCAC-ICAM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Résumé Final</a:t>
            </a:r>
          </a:p>
          <a:p>
            <a:pPr algn="ctr">
              <a:spcBef>
                <a:spcPts val="1600"/>
              </a:spcBef>
              <a:defRPr sz="2000" b="0">
                <a:solidFill>
                  <a:srgbClr val="BFDBFE"/>
                </a:solidFill>
              </a:defRPr>
            </a:pPr>
            <a:r>
              <a:t>Architecture : MikroTik ↔ FreeRADIUS ↔ PostgreSQL ↔ Django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defRPr sz="1600">
                <a:solidFill>
                  <a:srgbClr val="BFDBFE"/>
                </a:solidFill>
              </a:defRPr>
            </a:pPr>
            <a:r>
              <a:t>▸  MikroTik : Hotspot + NAT + DHCP + DNS + Client RADIUS</a:t>
            </a:r>
          </a:p>
          <a:p>
            <a:pPr algn="ctr">
              <a:spcBef>
                <a:spcPts val="800"/>
              </a:spcBef>
              <a:defRPr sz="1600">
                <a:solidFill>
                  <a:srgbClr val="BFDBFE"/>
                </a:solidFill>
              </a:defRPr>
            </a:pPr>
            <a:r>
              <a:t>▸  FreeRADIUS : Authentification AAA (PAP/CHAP) via SQL</a:t>
            </a:r>
          </a:p>
          <a:p>
            <a:pPr algn="ctr">
              <a:spcBef>
                <a:spcPts val="800"/>
              </a:spcBef>
              <a:defRPr sz="1600">
                <a:solidFill>
                  <a:srgbClr val="BFDBFE"/>
                </a:solidFill>
              </a:defRPr>
            </a:pPr>
            <a:r>
              <a:t>▸  PostgreSQL : Tables radcheck, radreply, radacct, radusergroup + Django ORM</a:t>
            </a:r>
          </a:p>
          <a:p>
            <a:pPr algn="ctr">
              <a:spcBef>
                <a:spcPts val="800"/>
              </a:spcBef>
              <a:defRPr sz="1600">
                <a:solidFill>
                  <a:srgbClr val="BFDBFE"/>
                </a:solidFill>
              </a:defRPr>
            </a:pPr>
            <a:r>
              <a:t>▸  Django : API REST, gestion des profils/quotas, synchronisation RADIUS</a:t>
            </a:r>
          </a:p>
          <a:p>
            <a:pPr algn="ctr">
              <a:spcBef>
                <a:spcPts val="800"/>
              </a:spcBef>
              <a:defRPr sz="1600">
                <a:solidFill>
                  <a:srgbClr val="BFDBFE"/>
                </a:solidFill>
              </a:defRPr>
            </a:pPr>
            <a:r>
              <a:t>▸  Vue.js : Dashboard d'administration temps réel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Merci pour votre attention</a:t>
            </a:r>
          </a:p>
          <a:p>
            <a:pPr algn="ctr">
              <a:spcBef>
                <a:spcPts val="1600"/>
              </a:spcBef>
              <a:defRPr sz="2000" b="0">
                <a:solidFill>
                  <a:srgbClr val="BFDBFE"/>
                </a:solidFill>
              </a:defRPr>
            </a:pPr>
            <a:r>
              <a:t>Questions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457200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Portail Captif WiFi — UCAC-ICAM — Janvier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